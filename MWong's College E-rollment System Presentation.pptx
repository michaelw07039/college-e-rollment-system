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256" r:id="rId5"/>
    <p:sldId id="257" r:id="rId6"/>
    <p:sldId id="299" r:id="rId7"/>
    <p:sldId id="289" r:id="rId8"/>
    <p:sldId id="300" r:id="rId9"/>
    <p:sldId id="301" r:id="rId10"/>
    <p:sldId id="290" r:id="rId11"/>
    <p:sldId id="291" r:id="rId12"/>
    <p:sldId id="292" r:id="rId13"/>
    <p:sldId id="302" r:id="rId14"/>
    <p:sldId id="303" r:id="rId15"/>
    <p:sldId id="298"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95646" autoAdjust="0"/>
  </p:normalViewPr>
  <p:slideViewPr>
    <p:cSldViewPr snapToGrid="0">
      <p:cViewPr varScale="1">
        <p:scale>
          <a:sx n="160" d="100"/>
          <a:sy n="160" d="100"/>
        </p:scale>
        <p:origin x="180" y="9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4/7/2026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4/7/2026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Today I will be presenting my final project, which is a College E-Enrollment System. This project shows the full software development lifecycle, including requirements, design, implementation, and testing.</a:t>
            </a:r>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system is designed to allow students to manage their course enrollment online. It includes core features such as user registration, login authentication, viewing available courses, enrolling in courses, and managing schedules.</a:t>
            </a:r>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48AF3-0C84-0AA1-F3B5-32E6048755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F0486-8566-AC83-D951-34000AB4F4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FD99A6-2F78-FBB3-FB4E-35E9BE5C3814}"/>
              </a:ext>
            </a:extLst>
          </p:cNvPr>
          <p:cNvSpPr>
            <a:spLocks noGrp="1"/>
          </p:cNvSpPr>
          <p:nvPr>
            <p:ph type="body" idx="1"/>
          </p:nvPr>
        </p:nvSpPr>
        <p:spPr/>
        <p:txBody>
          <a:bodyPr/>
          <a:lstStyle/>
          <a:p>
            <a:r>
              <a:rPr lang="en-US" dirty="0"/>
              <a:t>The Software Requirements Specification, or SRS, defines what the system is supposed to do. It includes both functional requirements, such as user registration and enrollment, and non-functional requirements, such as performance and security.</a:t>
            </a:r>
          </a:p>
        </p:txBody>
      </p:sp>
      <p:sp>
        <p:nvSpPr>
          <p:cNvPr id="4" name="Slide Number Placeholder 3">
            <a:extLst>
              <a:ext uri="{FF2B5EF4-FFF2-40B4-BE49-F238E27FC236}">
                <a16:creationId xmlns:a16="http://schemas.microsoft.com/office/drawing/2014/main" id="{AAFEC78C-4A8A-A327-84A9-32F7B87160AB}"/>
              </a:ext>
            </a:extLst>
          </p:cNvPr>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694272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Some of the key features defined in the SRS include user registration and login, viewing courses by semester, enrolling in courses with capacity limits, and waitlist management when courses are full.</a:t>
            </a:r>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9C8B-79DE-941B-9678-D555548EE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A2C14-96E9-69E8-C1AE-BC867A51967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AC14CD-7C23-274E-1A78-5FBE6E796934}"/>
              </a:ext>
            </a:extLst>
          </p:cNvPr>
          <p:cNvSpPr>
            <a:spLocks noGrp="1"/>
          </p:cNvSpPr>
          <p:nvPr>
            <p:ph type="body" idx="1"/>
          </p:nvPr>
        </p:nvSpPr>
        <p:spPr/>
        <p:txBody>
          <a:bodyPr/>
          <a:lstStyle/>
          <a:p>
            <a:r>
              <a:rPr lang="en-US" dirty="0"/>
              <a:t>The UML design model provides a visual representation of the system. Each diagram assists in describing different aspects of the system, including structure and behavior. Two examples that we have here are the Class Diagram (shows relationships, classes, attributes) and the use case diagram (how users or actors interact with the system) </a:t>
            </a:r>
          </a:p>
        </p:txBody>
      </p:sp>
      <p:sp>
        <p:nvSpPr>
          <p:cNvPr id="4" name="Slide Number Placeholder 3">
            <a:extLst>
              <a:ext uri="{FF2B5EF4-FFF2-40B4-BE49-F238E27FC236}">
                <a16:creationId xmlns:a16="http://schemas.microsoft.com/office/drawing/2014/main" id="{95C32E14-7399-CB68-A609-10FEA4EF15BC}"/>
              </a:ext>
            </a:extLst>
          </p:cNvPr>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3482442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76323-AF08-FD98-7741-E3234309D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F62E0-9533-C668-C6DC-BC75A73AE8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41149C-D04A-82AC-FEC2-42F5E9AFBD87}"/>
              </a:ext>
            </a:extLst>
          </p:cNvPr>
          <p:cNvSpPr>
            <a:spLocks noGrp="1"/>
          </p:cNvSpPr>
          <p:nvPr>
            <p:ph type="body" idx="1"/>
          </p:nvPr>
        </p:nvSpPr>
        <p:spPr/>
        <p:txBody>
          <a:bodyPr/>
          <a:lstStyle/>
          <a:p>
            <a:r>
              <a:rPr lang="en-US" dirty="0"/>
              <a:t>The use case diagram shows how users interact with the system. The class diagram defines the structure of the system. The sequence diagram shows how processes occur step by step. Activity and state diagrams show flow and system behavior.</a:t>
            </a:r>
          </a:p>
        </p:txBody>
      </p:sp>
      <p:sp>
        <p:nvSpPr>
          <p:cNvPr id="4" name="Slide Number Placeholder 3">
            <a:extLst>
              <a:ext uri="{FF2B5EF4-FFF2-40B4-BE49-F238E27FC236}">
                <a16:creationId xmlns:a16="http://schemas.microsoft.com/office/drawing/2014/main" id="{E92AFBB9-EAA2-1B16-EF8A-01E7F3CBF076}"/>
              </a:ext>
            </a:extLst>
          </p:cNvPr>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545527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frontend includes several pages. The landing page is the entry point. The login and registration pages allow users to access the system. The dashboard provides navigation to features like course enrollment and schedule viewing.</a:t>
            </a:r>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enrollment pages allow users to view available courses, add courses to their schedule, prevent duplicate enrollments, drop courses, and view their current schedule.</a:t>
            </a:r>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system uses a MySQL database named </a:t>
            </a:r>
            <a:r>
              <a:rPr lang="en-US" dirty="0" err="1"/>
              <a:t>course_enrollment</a:t>
            </a:r>
            <a:r>
              <a:rPr lang="en-US" dirty="0"/>
              <a:t>. It contains three main tables: users, courses, and enrollments. These tables store all system data and maintain relationships between users and courses.</a:t>
            </a:r>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D00E5-C4E2-0B11-384E-3C27324B1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E1E6D-C116-A03B-8D68-4E8B443DD3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635BC7-219A-C956-CF32-AEF83D0F3D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dirty="0" err="1"/>
              <a:t>The</a:t>
            </a:r>
            <a:r>
              <a:rPr lang="en-US" dirty="0"/>
              <a:t> database stores user information securely and tracks course enrollment. It ensures that course capacity is enforced and links users to their selected courses. It also supports adding and dropping classes.</a:t>
            </a:r>
          </a:p>
          <a:p>
            <a:endParaRPr lang="en-US" dirty="0"/>
          </a:p>
        </p:txBody>
      </p:sp>
      <p:sp>
        <p:nvSpPr>
          <p:cNvPr id="4" name="Slide Number Placeholder 3">
            <a:extLst>
              <a:ext uri="{FF2B5EF4-FFF2-40B4-BE49-F238E27FC236}">
                <a16:creationId xmlns:a16="http://schemas.microsoft.com/office/drawing/2014/main" id="{20FF02EE-C387-086F-F466-0401ACD38EA8}"/>
              </a:ext>
            </a:extLst>
          </p:cNvPr>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3748064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6A7E5-12B3-9908-C4B4-920D0036A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CECDD-40E3-184B-24E8-F53206A1D5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1D96ACA-3473-33E1-A018-7D5A188BE9FD}"/>
              </a:ext>
            </a:extLst>
          </p:cNvPr>
          <p:cNvSpPr>
            <a:spLocks noGrp="1"/>
          </p:cNvSpPr>
          <p:nvPr>
            <p:ph type="body" idx="1"/>
          </p:nvPr>
        </p:nvSpPr>
        <p:spPr/>
        <p:txBody>
          <a:bodyPr/>
          <a:lstStyle/>
          <a:p>
            <a:r>
              <a:rPr lang="en-US" dirty="0"/>
              <a:t>PHP is used for backend development. It handles user authentication, database connections, enrollment validation, and session management. It ensures that users can interact with the system securely and efficiently.</a:t>
            </a:r>
          </a:p>
        </p:txBody>
      </p:sp>
      <p:sp>
        <p:nvSpPr>
          <p:cNvPr id="4" name="Slide Number Placeholder 3">
            <a:extLst>
              <a:ext uri="{FF2B5EF4-FFF2-40B4-BE49-F238E27FC236}">
                <a16:creationId xmlns:a16="http://schemas.microsoft.com/office/drawing/2014/main" id="{97F28AB5-94B4-B15E-13AE-591089F89C64}"/>
              </a:ext>
            </a:extLst>
          </p:cNvPr>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2337777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conclusion, this project demonstrates the full software development lifecycle. It integrates frontend design, backend logic, and database management into a functional web application. This project reflects real-world system development practices.</a:t>
            </a:r>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965845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59" r:id="rId4"/>
    <p:sldLayoutId id="2147483668" r:id="rId5"/>
    <p:sldLayoutId id="2147483669" r:id="rId6"/>
    <p:sldLayoutId id="2147483675" r:id="rId7"/>
    <p:sldLayoutId id="2147483661" r:id="rId8"/>
    <p:sldLayoutId id="2147483666" r:id="rId9"/>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uagc.instructure.com/courses/157684/modules/items/8040689" TargetMode="External"/><Relationship Id="rId2" Type="http://schemas.openxmlformats.org/officeDocument/2006/relationships/hyperlink" Target="https://doi.org/10.1016/j.infsof.2023.107265"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dirty="0"/>
              <a:t>College E-</a:t>
            </a:r>
            <a:r>
              <a:rPr lang="en-US" dirty="0" err="1"/>
              <a:t>rollment</a:t>
            </a:r>
            <a:r>
              <a:rPr lang="en-US" dirty="0"/>
              <a:t> System</a:t>
            </a:r>
          </a:p>
        </p:txBody>
      </p:sp>
      <p:sp>
        <p:nvSpPr>
          <p:cNvPr id="3" name="TextBox 2">
            <a:extLst>
              <a:ext uri="{FF2B5EF4-FFF2-40B4-BE49-F238E27FC236}">
                <a16:creationId xmlns:a16="http://schemas.microsoft.com/office/drawing/2014/main" id="{4295DAE6-9A87-EB1D-ED0E-8DD9F9126C88}"/>
              </a:ext>
            </a:extLst>
          </p:cNvPr>
          <p:cNvSpPr txBox="1"/>
          <p:nvPr/>
        </p:nvSpPr>
        <p:spPr>
          <a:xfrm>
            <a:off x="2148840" y="4639376"/>
            <a:ext cx="4367463" cy="707886"/>
          </a:xfrm>
          <a:prstGeom prst="rect">
            <a:avLst/>
          </a:prstGeom>
          <a:noFill/>
        </p:spPr>
        <p:txBody>
          <a:bodyPr wrap="square" rtlCol="0">
            <a:spAutoFit/>
          </a:bodyPr>
          <a:lstStyle/>
          <a:p>
            <a:r>
              <a:rPr lang="en-US" sz="2000" dirty="0"/>
              <a:t>CST499 Final Project Presentation</a:t>
            </a:r>
            <a:br>
              <a:rPr lang="en-US" sz="2000" dirty="0"/>
            </a:br>
            <a:r>
              <a:rPr lang="en-US" sz="2000" dirty="0"/>
              <a:t>by Michael Wong</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Project Overview</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a:bodyPr>
          <a:lstStyle/>
          <a:p>
            <a:r>
              <a:rPr lang="en-US" dirty="0"/>
              <a:t>This is a web-based course enrollment system that allows users to:</a:t>
            </a:r>
          </a:p>
          <a:p>
            <a:pPr marL="457200" indent="-457200">
              <a:buFont typeface="Arial" panose="020B0604020202020204" pitchFamily="34" charset="0"/>
              <a:buChar char="•"/>
            </a:pPr>
            <a:r>
              <a:rPr lang="en-US" dirty="0"/>
              <a:t>Register accounts</a:t>
            </a:r>
          </a:p>
          <a:p>
            <a:pPr marL="457200" indent="-457200">
              <a:buFont typeface="Arial" panose="020B0604020202020204" pitchFamily="34" charset="0"/>
              <a:buChar char="•"/>
            </a:pPr>
            <a:r>
              <a:rPr lang="en-US" dirty="0"/>
              <a:t>Log in securely</a:t>
            </a:r>
          </a:p>
          <a:p>
            <a:pPr marL="457200" indent="-457200">
              <a:buFont typeface="Arial" panose="020B0604020202020204" pitchFamily="34" charset="0"/>
              <a:buChar char="•"/>
            </a:pPr>
            <a:r>
              <a:rPr lang="en-US" dirty="0"/>
              <a:t>View courses</a:t>
            </a:r>
          </a:p>
          <a:p>
            <a:pPr marL="457200" indent="-457200">
              <a:buFont typeface="Arial" panose="020B0604020202020204" pitchFamily="34" charset="0"/>
              <a:buChar char="•"/>
            </a:pPr>
            <a:r>
              <a:rPr lang="en-US" dirty="0"/>
              <a:t>Enroll and manage schedules</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42284-C301-EE09-01B5-AB8F00B3C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37D95-028E-CC62-819A-1A8A1844B3EE}"/>
              </a:ext>
            </a:extLst>
          </p:cNvPr>
          <p:cNvSpPr>
            <a:spLocks noGrp="1"/>
          </p:cNvSpPr>
          <p:nvPr>
            <p:ph type="title"/>
          </p:nvPr>
        </p:nvSpPr>
        <p:spPr>
          <a:xfrm>
            <a:off x="1158864" y="102021"/>
            <a:ext cx="9779183" cy="1744415"/>
          </a:xfrm>
        </p:spPr>
        <p:txBody>
          <a:bodyPr/>
          <a:lstStyle/>
          <a:p>
            <a:r>
              <a:rPr lang="en-US" dirty="0"/>
              <a:t>SRS Overview</a:t>
            </a:r>
          </a:p>
        </p:txBody>
      </p:sp>
      <p:sp>
        <p:nvSpPr>
          <p:cNvPr id="3" name="Content Placeholder 2">
            <a:extLst>
              <a:ext uri="{FF2B5EF4-FFF2-40B4-BE49-F238E27FC236}">
                <a16:creationId xmlns:a16="http://schemas.microsoft.com/office/drawing/2014/main" id="{8B1D1106-7DD5-6D4C-DEA9-F1C4FA504641}"/>
              </a:ext>
            </a:extLst>
          </p:cNvPr>
          <p:cNvSpPr>
            <a:spLocks noGrp="1"/>
          </p:cNvSpPr>
          <p:nvPr>
            <p:ph idx="1"/>
          </p:nvPr>
        </p:nvSpPr>
        <p:spPr>
          <a:xfrm>
            <a:off x="1158865" y="2017467"/>
            <a:ext cx="9779182" cy="3366815"/>
          </a:xfrm>
        </p:spPr>
        <p:txBody>
          <a:bodyPr vert="horz" lIns="91440" tIns="45720" rIns="91440" bIns="45720" rtlCol="0" anchor="t">
            <a:normAutofit/>
          </a:bodyPr>
          <a:lstStyle/>
          <a:p>
            <a:r>
              <a:rPr lang="en-US" dirty="0"/>
              <a:t>The SRS defines system requirements</a:t>
            </a:r>
          </a:p>
          <a:p>
            <a:r>
              <a:rPr lang="en-US" dirty="0"/>
              <a:t>Includes:</a:t>
            </a:r>
          </a:p>
          <a:p>
            <a:pPr marL="457200" indent="-457200">
              <a:buFont typeface="Arial" panose="020B0604020202020204" pitchFamily="34" charset="0"/>
              <a:buChar char="•"/>
            </a:pPr>
            <a:r>
              <a:rPr lang="en-US" dirty="0"/>
              <a:t>Functional requirements</a:t>
            </a:r>
          </a:p>
          <a:p>
            <a:pPr marL="457200" indent="-457200">
              <a:buFont typeface="Arial" panose="020B0604020202020204" pitchFamily="34" charset="0"/>
              <a:buChar char="•"/>
            </a:pPr>
            <a:r>
              <a:rPr lang="en-US" dirty="0"/>
              <a:t>Non-functional requirements</a:t>
            </a:r>
          </a:p>
          <a:p>
            <a:pPr marL="457200" indent="-457200">
              <a:buFont typeface="Arial" panose="020B0604020202020204" pitchFamily="34" charset="0"/>
              <a:buChar char="•"/>
            </a:pPr>
            <a:r>
              <a:rPr lang="en-US" dirty="0"/>
              <a:t>Uses “The system shall…” format</a:t>
            </a:r>
          </a:p>
        </p:txBody>
      </p:sp>
    </p:spTree>
    <p:extLst>
      <p:ext uri="{BB962C8B-B14F-4D97-AF65-F5344CB8AC3E}">
        <p14:creationId xmlns:p14="http://schemas.microsoft.com/office/powerpoint/2010/main" val="346478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1167492" y="45085"/>
            <a:ext cx="9779183" cy="1600835"/>
          </a:xfrm>
        </p:spPr>
        <p:txBody>
          <a:bodyPr/>
          <a:lstStyle/>
          <a:p>
            <a:r>
              <a:rPr lang="en-US" dirty="0"/>
              <a:t>Key SRS Features</a:t>
            </a:r>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4"/>
          </p:nvPr>
        </p:nvSpPr>
        <p:spPr>
          <a:xfrm>
            <a:off x="1166813" y="2652713"/>
            <a:ext cx="9780587" cy="3436937"/>
          </a:xfrm>
        </p:spPr>
        <p:txBody>
          <a:bodyPr>
            <a:normAutofit/>
          </a:bodyPr>
          <a:lstStyle/>
          <a:p>
            <a:r>
              <a:rPr lang="en-US" dirty="0"/>
              <a:t>User registration and login</a:t>
            </a:r>
          </a:p>
          <a:p>
            <a:r>
              <a:rPr lang="en-US" dirty="0"/>
              <a:t>Course listing by semester</a:t>
            </a:r>
          </a:p>
          <a:p>
            <a:r>
              <a:rPr lang="en-US" dirty="0"/>
              <a:t>Enrollment with capacity limits</a:t>
            </a:r>
          </a:p>
          <a:p>
            <a:r>
              <a:rPr lang="en-US" dirty="0"/>
              <a:t>Waitlist functionality</a:t>
            </a:r>
          </a:p>
        </p:txBody>
      </p:sp>
    </p:spTree>
    <p:extLst>
      <p:ext uri="{BB962C8B-B14F-4D97-AF65-F5344CB8AC3E}">
        <p14:creationId xmlns:p14="http://schemas.microsoft.com/office/powerpoint/2010/main" val="2529338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57C1-AAA9-4852-CE67-301D89B7D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B8E43-2815-20FC-38FF-58BE8F21B4E4}"/>
              </a:ext>
            </a:extLst>
          </p:cNvPr>
          <p:cNvSpPr>
            <a:spLocks noGrp="1"/>
          </p:cNvSpPr>
          <p:nvPr>
            <p:ph type="title"/>
          </p:nvPr>
        </p:nvSpPr>
        <p:spPr>
          <a:xfrm>
            <a:off x="1158864" y="102021"/>
            <a:ext cx="9779183" cy="1744415"/>
          </a:xfrm>
        </p:spPr>
        <p:txBody>
          <a:bodyPr/>
          <a:lstStyle/>
          <a:p>
            <a:r>
              <a:rPr lang="en-US" dirty="0"/>
              <a:t>UML Design Overview</a:t>
            </a:r>
          </a:p>
        </p:txBody>
      </p:sp>
      <p:sp>
        <p:nvSpPr>
          <p:cNvPr id="3" name="Content Placeholder 2">
            <a:extLst>
              <a:ext uri="{FF2B5EF4-FFF2-40B4-BE49-F238E27FC236}">
                <a16:creationId xmlns:a16="http://schemas.microsoft.com/office/drawing/2014/main" id="{A5DE5FA5-C32D-39FA-3003-04DBD1232B67}"/>
              </a:ext>
            </a:extLst>
          </p:cNvPr>
          <p:cNvSpPr>
            <a:spLocks noGrp="1"/>
          </p:cNvSpPr>
          <p:nvPr>
            <p:ph idx="1"/>
          </p:nvPr>
        </p:nvSpPr>
        <p:spPr>
          <a:xfrm>
            <a:off x="1158865" y="2017467"/>
            <a:ext cx="9779182" cy="3366815"/>
          </a:xfrm>
        </p:spPr>
        <p:txBody>
          <a:bodyPr vert="horz" lIns="91440" tIns="45720" rIns="91440" bIns="45720" rtlCol="0" anchor="t">
            <a:normAutofit lnSpcReduction="10000"/>
          </a:bodyPr>
          <a:lstStyle/>
          <a:p>
            <a:r>
              <a:rPr lang="en-US" dirty="0"/>
              <a:t>The visual representation of system design</a:t>
            </a:r>
          </a:p>
          <a:p>
            <a:r>
              <a:rPr lang="en-US" dirty="0"/>
              <a:t>Includes:</a:t>
            </a:r>
          </a:p>
          <a:p>
            <a:pPr marL="457200" indent="-457200">
              <a:buFont typeface="Arial" panose="020B0604020202020204" pitchFamily="34" charset="0"/>
              <a:buChar char="•"/>
            </a:pPr>
            <a:r>
              <a:rPr lang="en-US" dirty="0"/>
              <a:t>Use Case Diagram</a:t>
            </a:r>
          </a:p>
          <a:p>
            <a:pPr marL="457200" indent="-457200">
              <a:buFont typeface="Arial" panose="020B0604020202020204" pitchFamily="34" charset="0"/>
              <a:buChar char="•"/>
            </a:pPr>
            <a:r>
              <a:rPr lang="en-US" dirty="0"/>
              <a:t>Class Diagram</a:t>
            </a:r>
          </a:p>
          <a:p>
            <a:pPr marL="457200" indent="-457200">
              <a:buFont typeface="Arial" panose="020B0604020202020204" pitchFamily="34" charset="0"/>
              <a:buChar char="•"/>
            </a:pPr>
            <a:r>
              <a:rPr lang="en-US" dirty="0"/>
              <a:t>Sequence Diagram</a:t>
            </a:r>
          </a:p>
          <a:p>
            <a:pPr marL="457200" indent="-457200">
              <a:buFont typeface="Arial" panose="020B0604020202020204" pitchFamily="34" charset="0"/>
              <a:buChar char="•"/>
            </a:pPr>
            <a:r>
              <a:rPr lang="en-US" dirty="0"/>
              <a:t>Activity Diagram</a:t>
            </a:r>
          </a:p>
          <a:p>
            <a:pPr marL="457200" indent="-457200">
              <a:buFont typeface="Arial" panose="020B0604020202020204" pitchFamily="34" charset="0"/>
              <a:buChar char="•"/>
            </a:pPr>
            <a:r>
              <a:rPr lang="en-US" dirty="0"/>
              <a:t>State Diagram</a:t>
            </a:r>
          </a:p>
        </p:txBody>
      </p:sp>
      <p:pic>
        <p:nvPicPr>
          <p:cNvPr id="4" name="Picture 3">
            <a:extLst>
              <a:ext uri="{FF2B5EF4-FFF2-40B4-BE49-F238E27FC236}">
                <a16:creationId xmlns:a16="http://schemas.microsoft.com/office/drawing/2014/main" id="{F89D1397-1DA2-BF97-BFE8-FCD21525566E}"/>
              </a:ext>
            </a:extLst>
          </p:cNvPr>
          <p:cNvPicPr>
            <a:picLocks noChangeAspect="1"/>
          </p:cNvPicPr>
          <p:nvPr/>
        </p:nvPicPr>
        <p:blipFill>
          <a:blip r:embed="rId3"/>
          <a:stretch>
            <a:fillRect/>
          </a:stretch>
        </p:blipFill>
        <p:spPr>
          <a:xfrm>
            <a:off x="8889732" y="306070"/>
            <a:ext cx="2797574" cy="2666064"/>
          </a:xfrm>
          <a:prstGeom prst="rect">
            <a:avLst/>
          </a:prstGeom>
        </p:spPr>
      </p:pic>
      <p:pic>
        <p:nvPicPr>
          <p:cNvPr id="5" name="Picture 4">
            <a:extLst>
              <a:ext uri="{FF2B5EF4-FFF2-40B4-BE49-F238E27FC236}">
                <a16:creationId xmlns:a16="http://schemas.microsoft.com/office/drawing/2014/main" id="{3E06B14A-65DC-7786-177B-F72957251050}"/>
              </a:ext>
            </a:extLst>
          </p:cNvPr>
          <p:cNvPicPr>
            <a:picLocks noChangeAspect="1"/>
          </p:cNvPicPr>
          <p:nvPr/>
        </p:nvPicPr>
        <p:blipFill>
          <a:blip r:embed="rId4"/>
          <a:stretch>
            <a:fillRect/>
          </a:stretch>
        </p:blipFill>
        <p:spPr>
          <a:xfrm>
            <a:off x="5584999" y="2885509"/>
            <a:ext cx="2897171" cy="3731154"/>
          </a:xfrm>
          <a:prstGeom prst="rect">
            <a:avLst/>
          </a:prstGeom>
        </p:spPr>
      </p:pic>
    </p:spTree>
    <p:extLst>
      <p:ext uri="{BB962C8B-B14F-4D97-AF65-F5344CB8AC3E}">
        <p14:creationId xmlns:p14="http://schemas.microsoft.com/office/powerpoint/2010/main" val="3245455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98A02-CC36-C7AA-49B6-287F82D55DC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CD19CD-7198-2C69-2C3F-57A152A576A4}"/>
              </a:ext>
            </a:extLst>
          </p:cNvPr>
          <p:cNvSpPr>
            <a:spLocks noGrp="1"/>
          </p:cNvSpPr>
          <p:nvPr>
            <p:ph type="title"/>
          </p:nvPr>
        </p:nvSpPr>
        <p:spPr>
          <a:xfrm>
            <a:off x="1167492" y="45085"/>
            <a:ext cx="9779183" cy="1600835"/>
          </a:xfrm>
        </p:spPr>
        <p:txBody>
          <a:bodyPr/>
          <a:lstStyle/>
          <a:p>
            <a:r>
              <a:rPr lang="en-US" dirty="0"/>
              <a:t>UML Highlights</a:t>
            </a:r>
          </a:p>
        </p:txBody>
      </p:sp>
      <p:sp>
        <p:nvSpPr>
          <p:cNvPr id="3" name="Content Placeholder 2">
            <a:extLst>
              <a:ext uri="{FF2B5EF4-FFF2-40B4-BE49-F238E27FC236}">
                <a16:creationId xmlns:a16="http://schemas.microsoft.com/office/drawing/2014/main" id="{F1063526-7FF9-251B-D193-1D449A4D164F}"/>
              </a:ext>
            </a:extLst>
          </p:cNvPr>
          <p:cNvSpPr>
            <a:spLocks noGrp="1"/>
          </p:cNvSpPr>
          <p:nvPr>
            <p:ph idx="14"/>
          </p:nvPr>
        </p:nvSpPr>
        <p:spPr>
          <a:xfrm>
            <a:off x="1166813" y="2652713"/>
            <a:ext cx="9780587" cy="3436937"/>
          </a:xfrm>
        </p:spPr>
        <p:txBody>
          <a:bodyPr>
            <a:normAutofit/>
          </a:bodyPr>
          <a:lstStyle/>
          <a:p>
            <a:r>
              <a:rPr lang="en-US" dirty="0"/>
              <a:t>Use Case → user interactions</a:t>
            </a:r>
          </a:p>
          <a:p>
            <a:r>
              <a:rPr lang="en-US" dirty="0"/>
              <a:t>Class → system structure</a:t>
            </a:r>
          </a:p>
          <a:p>
            <a:r>
              <a:rPr lang="en-US" dirty="0"/>
              <a:t>Sequence → workflow of actions</a:t>
            </a:r>
          </a:p>
          <a:p>
            <a:r>
              <a:rPr lang="en-US" dirty="0"/>
              <a:t>Activity → process flow</a:t>
            </a:r>
          </a:p>
          <a:p>
            <a:r>
              <a:rPr lang="en-US" dirty="0"/>
              <a:t>State → system states</a:t>
            </a:r>
          </a:p>
        </p:txBody>
      </p:sp>
    </p:spTree>
    <p:extLst>
      <p:ext uri="{BB962C8B-B14F-4D97-AF65-F5344CB8AC3E}">
        <p14:creationId xmlns:p14="http://schemas.microsoft.com/office/powerpoint/2010/main" val="351019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a:lstStyle/>
          <a:p>
            <a:r>
              <a:rPr lang="en-US" dirty="0"/>
              <a:t>Frontend Design</a:t>
            </a:r>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
          </p:nvPr>
        </p:nvSpPr>
        <p:spPr>
          <a:xfrm>
            <a:off x="1167493" y="2023984"/>
            <a:ext cx="4663440" cy="3332832"/>
          </a:xfrm>
        </p:spPr>
        <p:txBody>
          <a:bodyPr/>
          <a:lstStyle/>
          <a:p>
            <a:pPr marL="342900" indent="-342900">
              <a:buFont typeface="Arial" panose="020B0604020202020204" pitchFamily="34" charset="0"/>
              <a:buChar char="•"/>
            </a:pPr>
            <a:r>
              <a:rPr lang="en-US" dirty="0"/>
              <a:t>Landing page</a:t>
            </a:r>
          </a:p>
          <a:p>
            <a:pPr marL="342900" indent="-342900">
              <a:buFont typeface="Arial" panose="020B0604020202020204" pitchFamily="34" charset="0"/>
              <a:buChar char="•"/>
            </a:pPr>
            <a:r>
              <a:rPr lang="en-US" dirty="0"/>
              <a:t>Login page</a:t>
            </a:r>
          </a:p>
          <a:p>
            <a:pPr marL="342900" indent="-342900">
              <a:buFont typeface="Arial" panose="020B0604020202020204" pitchFamily="34" charset="0"/>
              <a:buChar char="•"/>
            </a:pPr>
            <a:r>
              <a:rPr lang="en-US" dirty="0"/>
              <a:t>Registration page</a:t>
            </a:r>
          </a:p>
          <a:p>
            <a:pPr marL="342900" indent="-342900">
              <a:buFont typeface="Arial" panose="020B0604020202020204" pitchFamily="34" charset="0"/>
              <a:buChar char="•"/>
            </a:pPr>
            <a:r>
              <a:rPr lang="en-US" dirty="0"/>
              <a:t>Dashboard</a:t>
            </a:r>
          </a:p>
        </p:txBody>
      </p:sp>
      <p:pic>
        <p:nvPicPr>
          <p:cNvPr id="2" name="Picture 1">
            <a:extLst>
              <a:ext uri="{FF2B5EF4-FFF2-40B4-BE49-F238E27FC236}">
                <a16:creationId xmlns:a16="http://schemas.microsoft.com/office/drawing/2014/main" id="{B322B549-BF7B-D737-FEAF-8A4A6C3B163F}"/>
              </a:ext>
            </a:extLst>
          </p:cNvPr>
          <p:cNvPicPr>
            <a:picLocks noChangeAspect="1"/>
          </p:cNvPicPr>
          <p:nvPr/>
        </p:nvPicPr>
        <p:blipFill>
          <a:blip r:embed="rId3"/>
          <a:stretch>
            <a:fillRect/>
          </a:stretch>
        </p:blipFill>
        <p:spPr>
          <a:xfrm>
            <a:off x="5490193" y="425451"/>
            <a:ext cx="4317951" cy="2151465"/>
          </a:xfrm>
          <a:prstGeom prst="rect">
            <a:avLst/>
          </a:prstGeom>
        </p:spPr>
      </p:pic>
      <p:pic>
        <p:nvPicPr>
          <p:cNvPr id="5" name="Picture 4">
            <a:extLst>
              <a:ext uri="{FF2B5EF4-FFF2-40B4-BE49-F238E27FC236}">
                <a16:creationId xmlns:a16="http://schemas.microsoft.com/office/drawing/2014/main" id="{6F57BD96-4334-C058-06FE-E93B2ECF0D19}"/>
              </a:ext>
            </a:extLst>
          </p:cNvPr>
          <p:cNvPicPr>
            <a:picLocks noChangeAspect="1"/>
          </p:cNvPicPr>
          <p:nvPr/>
        </p:nvPicPr>
        <p:blipFill>
          <a:blip r:embed="rId4"/>
          <a:stretch>
            <a:fillRect/>
          </a:stretch>
        </p:blipFill>
        <p:spPr>
          <a:xfrm>
            <a:off x="5361456" y="2661441"/>
            <a:ext cx="3361992" cy="2695375"/>
          </a:xfrm>
          <a:prstGeom prst="rect">
            <a:avLst/>
          </a:prstGeom>
        </p:spPr>
      </p:pic>
      <p:pic>
        <p:nvPicPr>
          <p:cNvPr id="7" name="Picture 6">
            <a:extLst>
              <a:ext uri="{FF2B5EF4-FFF2-40B4-BE49-F238E27FC236}">
                <a16:creationId xmlns:a16="http://schemas.microsoft.com/office/drawing/2014/main" id="{B5240ABB-DA1D-488A-D1FF-FCDD769BAA92}"/>
              </a:ext>
            </a:extLst>
          </p:cNvPr>
          <p:cNvPicPr>
            <a:picLocks noChangeAspect="1"/>
          </p:cNvPicPr>
          <p:nvPr/>
        </p:nvPicPr>
        <p:blipFill>
          <a:blip r:embed="rId5"/>
          <a:stretch>
            <a:fillRect/>
          </a:stretch>
        </p:blipFill>
        <p:spPr>
          <a:xfrm>
            <a:off x="8723448" y="2642467"/>
            <a:ext cx="3122295" cy="3277235"/>
          </a:xfrm>
          <a:prstGeom prst="rect">
            <a:avLst/>
          </a:prstGeom>
        </p:spPr>
      </p:pic>
    </p:spTree>
    <p:extLst>
      <p:ext uri="{BB962C8B-B14F-4D97-AF65-F5344CB8AC3E}">
        <p14:creationId xmlns:p14="http://schemas.microsoft.com/office/powerpoint/2010/main" val="1265939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1167492" y="69008"/>
            <a:ext cx="9779183" cy="1706563"/>
          </a:xfrm>
        </p:spPr>
        <p:txBody>
          <a:bodyPr/>
          <a:lstStyle/>
          <a:p>
            <a:r>
              <a:rPr lang="en-US" dirty="0"/>
              <a:t>Enrollment Pages</a:t>
            </a:r>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2"/>
          </p:nvPr>
        </p:nvSpPr>
        <p:spPr>
          <a:xfrm>
            <a:off x="1166813" y="2024063"/>
            <a:ext cx="4664075" cy="3332162"/>
          </a:xfrm>
        </p:spPr>
        <p:txBody>
          <a:bodyPr>
            <a:normAutofit/>
          </a:bodyPr>
          <a:lstStyle/>
          <a:p>
            <a:pPr marL="342900" indent="-342900">
              <a:buFont typeface="Arial" panose="020B0604020202020204" pitchFamily="34" charset="0"/>
              <a:buChar char="•"/>
            </a:pPr>
            <a:r>
              <a:rPr lang="en-US" dirty="0"/>
              <a:t>View available courses</a:t>
            </a:r>
          </a:p>
          <a:p>
            <a:pPr marL="342900" indent="-342900">
              <a:buFont typeface="Arial" panose="020B0604020202020204" pitchFamily="34" charset="0"/>
              <a:buChar char="•"/>
            </a:pPr>
            <a:r>
              <a:rPr lang="en-US" dirty="0"/>
              <a:t>Add courses</a:t>
            </a:r>
          </a:p>
          <a:p>
            <a:pPr marL="342900" indent="-342900">
              <a:buFont typeface="Arial" panose="020B0604020202020204" pitchFamily="34" charset="0"/>
              <a:buChar char="•"/>
            </a:pPr>
            <a:r>
              <a:rPr lang="en-US" dirty="0"/>
              <a:t>Prevent duplicate enrollment</a:t>
            </a:r>
          </a:p>
          <a:p>
            <a:pPr marL="342900" indent="-342900">
              <a:buFont typeface="Arial" panose="020B0604020202020204" pitchFamily="34" charset="0"/>
              <a:buChar char="•"/>
            </a:pPr>
            <a:r>
              <a:rPr lang="en-US" dirty="0"/>
              <a:t>Drop courses</a:t>
            </a:r>
          </a:p>
          <a:p>
            <a:pPr marL="342900" indent="-342900">
              <a:buFont typeface="Arial" panose="020B0604020202020204" pitchFamily="34" charset="0"/>
              <a:buChar char="•"/>
            </a:pPr>
            <a:r>
              <a:rPr lang="en-US" dirty="0"/>
              <a:t>View schedule</a:t>
            </a:r>
          </a:p>
        </p:txBody>
      </p:sp>
      <p:pic>
        <p:nvPicPr>
          <p:cNvPr id="2" name="Picture 1">
            <a:extLst>
              <a:ext uri="{FF2B5EF4-FFF2-40B4-BE49-F238E27FC236}">
                <a16:creationId xmlns:a16="http://schemas.microsoft.com/office/drawing/2014/main" id="{8E4EB5B4-DB5B-C192-E9F8-045EE8DDDAFC}"/>
              </a:ext>
            </a:extLst>
          </p:cNvPr>
          <p:cNvPicPr>
            <a:picLocks noChangeAspect="1"/>
          </p:cNvPicPr>
          <p:nvPr/>
        </p:nvPicPr>
        <p:blipFill>
          <a:blip r:embed="rId3"/>
          <a:stretch>
            <a:fillRect/>
          </a:stretch>
        </p:blipFill>
        <p:spPr>
          <a:xfrm>
            <a:off x="7758429" y="158931"/>
            <a:ext cx="4208958" cy="3481772"/>
          </a:xfrm>
          <a:prstGeom prst="rect">
            <a:avLst/>
          </a:prstGeom>
        </p:spPr>
      </p:pic>
      <p:pic>
        <p:nvPicPr>
          <p:cNvPr id="5" name="Picture 4">
            <a:extLst>
              <a:ext uri="{FF2B5EF4-FFF2-40B4-BE49-F238E27FC236}">
                <a16:creationId xmlns:a16="http://schemas.microsoft.com/office/drawing/2014/main" id="{2B8A7993-E4BE-BE46-30FB-F9EA7DF109A6}"/>
              </a:ext>
            </a:extLst>
          </p:cNvPr>
          <p:cNvPicPr>
            <a:picLocks noChangeAspect="1"/>
          </p:cNvPicPr>
          <p:nvPr/>
        </p:nvPicPr>
        <p:blipFill>
          <a:blip r:embed="rId4"/>
          <a:stretch>
            <a:fillRect/>
          </a:stretch>
        </p:blipFill>
        <p:spPr>
          <a:xfrm>
            <a:off x="5554244" y="3741092"/>
            <a:ext cx="3874503" cy="3116908"/>
          </a:xfrm>
          <a:prstGeom prst="rect">
            <a:avLst/>
          </a:prstGeom>
        </p:spPr>
      </p:pic>
    </p:spTree>
    <p:extLst>
      <p:ext uri="{BB962C8B-B14F-4D97-AF65-F5344CB8AC3E}">
        <p14:creationId xmlns:p14="http://schemas.microsoft.com/office/powerpoint/2010/main" val="265210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a:lstStyle/>
          <a:p>
            <a:r>
              <a:rPr lang="en-US" dirty="0"/>
              <a:t>MySQL Database Design</a:t>
            </a: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idx="15"/>
          </p:nvPr>
        </p:nvSpPr>
        <p:spPr>
          <a:xfrm>
            <a:off x="1166813" y="2652713"/>
            <a:ext cx="5394325" cy="3436937"/>
          </a:xfrm>
        </p:spPr>
        <p:txBody>
          <a:bodyPr/>
          <a:lstStyle/>
          <a:p>
            <a:r>
              <a:rPr lang="fr-FR" dirty="0" err="1"/>
              <a:t>Database</a:t>
            </a:r>
            <a:r>
              <a:rPr lang="fr-FR" dirty="0"/>
              <a:t>: </a:t>
            </a:r>
            <a:r>
              <a:rPr lang="fr-FR" dirty="0" err="1"/>
              <a:t>course_enrollment</a:t>
            </a:r>
            <a:endParaRPr lang="fr-FR" dirty="0"/>
          </a:p>
          <a:p>
            <a:r>
              <a:rPr lang="fr-FR" dirty="0"/>
              <a:t>Tables:</a:t>
            </a:r>
          </a:p>
          <a:p>
            <a:pPr marL="342900" indent="-342900">
              <a:buFont typeface="Arial" panose="020B0604020202020204" pitchFamily="34" charset="0"/>
              <a:buChar char="•"/>
            </a:pPr>
            <a:r>
              <a:rPr lang="fr-FR" dirty="0" err="1"/>
              <a:t>users</a:t>
            </a:r>
            <a:endParaRPr lang="fr-FR" dirty="0"/>
          </a:p>
          <a:p>
            <a:pPr marL="342900" indent="-342900">
              <a:buFont typeface="Arial" panose="020B0604020202020204" pitchFamily="34" charset="0"/>
              <a:buChar char="•"/>
            </a:pPr>
            <a:r>
              <a:rPr lang="fr-FR" dirty="0"/>
              <a:t>courses</a:t>
            </a:r>
          </a:p>
          <a:p>
            <a:pPr marL="342900" indent="-342900">
              <a:buFont typeface="Arial" panose="020B0604020202020204" pitchFamily="34" charset="0"/>
              <a:buChar char="•"/>
            </a:pPr>
            <a:r>
              <a:rPr lang="fr-FR" dirty="0" err="1"/>
              <a:t>enrollments</a:t>
            </a:r>
            <a:endParaRPr lang="en-US" dirty="0"/>
          </a:p>
        </p:txBody>
      </p:sp>
      <p:pic>
        <p:nvPicPr>
          <p:cNvPr id="7" name="Picture 6">
            <a:extLst>
              <a:ext uri="{FF2B5EF4-FFF2-40B4-BE49-F238E27FC236}">
                <a16:creationId xmlns:a16="http://schemas.microsoft.com/office/drawing/2014/main" id="{B9E5CF61-7F8A-3B4D-D2C8-5077B5405A89}"/>
              </a:ext>
            </a:extLst>
          </p:cNvPr>
          <p:cNvPicPr>
            <a:picLocks noChangeAspect="1"/>
          </p:cNvPicPr>
          <p:nvPr/>
        </p:nvPicPr>
        <p:blipFill>
          <a:blip r:embed="rId3"/>
          <a:stretch>
            <a:fillRect/>
          </a:stretch>
        </p:blipFill>
        <p:spPr>
          <a:xfrm>
            <a:off x="5210417" y="2610049"/>
            <a:ext cx="6144045" cy="2007379"/>
          </a:xfrm>
          <a:prstGeom prst="rect">
            <a:avLst/>
          </a:prstGeom>
        </p:spPr>
      </p:pic>
    </p:spTree>
    <p:extLst>
      <p:ext uri="{BB962C8B-B14F-4D97-AF65-F5344CB8AC3E}">
        <p14:creationId xmlns:p14="http://schemas.microsoft.com/office/powerpoint/2010/main" val="362649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DD715-10B3-89DA-2187-A31CD28666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A48923B-4C30-0437-BB62-EDE2225880CE}"/>
              </a:ext>
            </a:extLst>
          </p:cNvPr>
          <p:cNvSpPr>
            <a:spLocks noGrp="1"/>
          </p:cNvSpPr>
          <p:nvPr>
            <p:ph type="title"/>
          </p:nvPr>
        </p:nvSpPr>
        <p:spPr>
          <a:xfrm>
            <a:off x="1167492" y="69008"/>
            <a:ext cx="9779183" cy="1706563"/>
          </a:xfrm>
        </p:spPr>
        <p:txBody>
          <a:bodyPr/>
          <a:lstStyle/>
          <a:p>
            <a:r>
              <a:rPr lang="en-US" dirty="0"/>
              <a:t>Database Functionality</a:t>
            </a:r>
          </a:p>
        </p:txBody>
      </p:sp>
      <p:sp>
        <p:nvSpPr>
          <p:cNvPr id="4" name="Content Placeholder 3">
            <a:extLst>
              <a:ext uri="{FF2B5EF4-FFF2-40B4-BE49-F238E27FC236}">
                <a16:creationId xmlns:a16="http://schemas.microsoft.com/office/drawing/2014/main" id="{47E07B9C-D525-4300-8A20-D024D44BC50A}"/>
              </a:ext>
            </a:extLst>
          </p:cNvPr>
          <p:cNvSpPr>
            <a:spLocks noGrp="1"/>
          </p:cNvSpPr>
          <p:nvPr>
            <p:ph idx="12"/>
          </p:nvPr>
        </p:nvSpPr>
        <p:spPr>
          <a:xfrm>
            <a:off x="1166813" y="2024063"/>
            <a:ext cx="4664075" cy="3332162"/>
          </a:xfrm>
        </p:spPr>
        <p:txBody>
          <a:bodyPr>
            <a:normAutofit/>
          </a:bodyPr>
          <a:lstStyle/>
          <a:p>
            <a:pPr marL="342900" indent="-342900">
              <a:buFont typeface="Arial" panose="020B0604020202020204" pitchFamily="34" charset="0"/>
              <a:buChar char="•"/>
            </a:pPr>
            <a:r>
              <a:rPr lang="en-US" dirty="0"/>
              <a:t>Stores user data securely</a:t>
            </a:r>
          </a:p>
          <a:p>
            <a:pPr marL="342900" indent="-342900">
              <a:buFont typeface="Arial" panose="020B0604020202020204" pitchFamily="34" charset="0"/>
              <a:buChar char="•"/>
            </a:pPr>
            <a:r>
              <a:rPr lang="en-US" dirty="0"/>
              <a:t>Tracks course capacity</a:t>
            </a:r>
          </a:p>
          <a:p>
            <a:pPr marL="342900" indent="-342900">
              <a:buFont typeface="Arial" panose="020B0604020202020204" pitchFamily="34" charset="0"/>
              <a:buChar char="•"/>
            </a:pPr>
            <a:r>
              <a:rPr lang="en-US" dirty="0"/>
              <a:t>Links users to courses</a:t>
            </a:r>
          </a:p>
          <a:p>
            <a:pPr marL="342900" indent="-342900">
              <a:buFont typeface="Arial" panose="020B0604020202020204" pitchFamily="34" charset="0"/>
              <a:buChar char="•"/>
            </a:pPr>
            <a:r>
              <a:rPr lang="en-US" dirty="0"/>
              <a:t>Supports add/drop functionality</a:t>
            </a:r>
          </a:p>
        </p:txBody>
      </p:sp>
      <p:pic>
        <p:nvPicPr>
          <p:cNvPr id="7" name="Picture 6">
            <a:extLst>
              <a:ext uri="{FF2B5EF4-FFF2-40B4-BE49-F238E27FC236}">
                <a16:creationId xmlns:a16="http://schemas.microsoft.com/office/drawing/2014/main" id="{BF0EA6EF-D8FB-0407-43AA-E2EB4729589D}"/>
              </a:ext>
            </a:extLst>
          </p:cNvPr>
          <p:cNvPicPr>
            <a:picLocks noChangeAspect="1"/>
          </p:cNvPicPr>
          <p:nvPr/>
        </p:nvPicPr>
        <p:blipFill>
          <a:blip r:embed="rId3"/>
          <a:stretch>
            <a:fillRect/>
          </a:stretch>
        </p:blipFill>
        <p:spPr>
          <a:xfrm>
            <a:off x="6959489" y="616716"/>
            <a:ext cx="4573878" cy="1407347"/>
          </a:xfrm>
          <a:prstGeom prst="rect">
            <a:avLst/>
          </a:prstGeom>
        </p:spPr>
      </p:pic>
      <p:pic>
        <p:nvPicPr>
          <p:cNvPr id="9" name="Picture 8">
            <a:extLst>
              <a:ext uri="{FF2B5EF4-FFF2-40B4-BE49-F238E27FC236}">
                <a16:creationId xmlns:a16="http://schemas.microsoft.com/office/drawing/2014/main" id="{6D2018B7-03A9-9492-2105-21F936B5892A}"/>
              </a:ext>
            </a:extLst>
          </p:cNvPr>
          <p:cNvPicPr>
            <a:picLocks noChangeAspect="1"/>
          </p:cNvPicPr>
          <p:nvPr/>
        </p:nvPicPr>
        <p:blipFill>
          <a:blip r:embed="rId4"/>
          <a:stretch>
            <a:fillRect/>
          </a:stretch>
        </p:blipFill>
        <p:spPr>
          <a:xfrm>
            <a:off x="6862321" y="2185635"/>
            <a:ext cx="3291495" cy="1869919"/>
          </a:xfrm>
          <a:prstGeom prst="rect">
            <a:avLst/>
          </a:prstGeom>
        </p:spPr>
      </p:pic>
      <p:pic>
        <p:nvPicPr>
          <p:cNvPr id="10" name="Picture 9">
            <a:extLst>
              <a:ext uri="{FF2B5EF4-FFF2-40B4-BE49-F238E27FC236}">
                <a16:creationId xmlns:a16="http://schemas.microsoft.com/office/drawing/2014/main" id="{1FA24D22-AB69-9EBE-BFBF-C79EA784048A}"/>
              </a:ext>
            </a:extLst>
          </p:cNvPr>
          <p:cNvPicPr>
            <a:picLocks noChangeAspect="1"/>
          </p:cNvPicPr>
          <p:nvPr/>
        </p:nvPicPr>
        <p:blipFill>
          <a:blip r:embed="rId5"/>
          <a:stretch>
            <a:fillRect/>
          </a:stretch>
        </p:blipFill>
        <p:spPr>
          <a:xfrm>
            <a:off x="6808139" y="4103454"/>
            <a:ext cx="2856672" cy="2589449"/>
          </a:xfrm>
          <a:prstGeom prst="rect">
            <a:avLst/>
          </a:prstGeom>
        </p:spPr>
      </p:pic>
    </p:spTree>
    <p:extLst>
      <p:ext uri="{BB962C8B-B14F-4D97-AF65-F5344CB8AC3E}">
        <p14:creationId xmlns:p14="http://schemas.microsoft.com/office/powerpoint/2010/main" val="748672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75FC9-7A3D-A59C-E9F3-74296BAC8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666C1-C271-37CF-BBA3-A4D9D23AC747}"/>
              </a:ext>
            </a:extLst>
          </p:cNvPr>
          <p:cNvSpPr>
            <a:spLocks noGrp="1"/>
          </p:cNvSpPr>
          <p:nvPr>
            <p:ph type="title"/>
          </p:nvPr>
        </p:nvSpPr>
        <p:spPr>
          <a:xfrm>
            <a:off x="1167492" y="457200"/>
            <a:ext cx="10643508" cy="1371600"/>
          </a:xfrm>
        </p:spPr>
        <p:txBody>
          <a:bodyPr/>
          <a:lstStyle/>
          <a:p>
            <a:r>
              <a:rPr lang="en-US" dirty="0"/>
              <a:t>PHP Code Implementation</a:t>
            </a:r>
          </a:p>
        </p:txBody>
      </p:sp>
      <p:sp>
        <p:nvSpPr>
          <p:cNvPr id="3" name="Content Placeholder 2">
            <a:extLst>
              <a:ext uri="{FF2B5EF4-FFF2-40B4-BE49-F238E27FC236}">
                <a16:creationId xmlns:a16="http://schemas.microsoft.com/office/drawing/2014/main" id="{02FA809D-1225-7C1C-5A30-795A1D36E750}"/>
              </a:ext>
            </a:extLst>
          </p:cNvPr>
          <p:cNvSpPr>
            <a:spLocks noGrp="1"/>
          </p:cNvSpPr>
          <p:nvPr>
            <p:ph idx="15"/>
          </p:nvPr>
        </p:nvSpPr>
        <p:spPr>
          <a:xfrm>
            <a:off x="1166813" y="2652714"/>
            <a:ext cx="4773911" cy="2810682"/>
          </a:xfrm>
        </p:spPr>
        <p:txBody>
          <a:bodyPr/>
          <a:lstStyle/>
          <a:p>
            <a:r>
              <a:rPr lang="fr-FR" dirty="0"/>
              <a:t>This </a:t>
            </a:r>
            <a:r>
              <a:rPr lang="fr-FR" dirty="0" err="1"/>
              <a:t>will</a:t>
            </a:r>
            <a:r>
              <a:rPr lang="fr-FR" dirty="0"/>
              <a:t> </a:t>
            </a:r>
            <a:r>
              <a:rPr lang="fr-FR" dirty="0" err="1"/>
              <a:t>handle</a:t>
            </a:r>
            <a:r>
              <a:rPr lang="fr-FR" dirty="0"/>
              <a:t> the backend </a:t>
            </a:r>
            <a:r>
              <a:rPr lang="fr-FR" dirty="0" err="1"/>
              <a:t>logic</a:t>
            </a:r>
            <a:r>
              <a:rPr lang="fr-FR" dirty="0"/>
              <a:t>.</a:t>
            </a:r>
          </a:p>
          <a:p>
            <a:r>
              <a:rPr lang="fr-FR" dirty="0"/>
              <a:t>Features:</a:t>
            </a:r>
          </a:p>
          <a:p>
            <a:pPr marL="342900" indent="-342900">
              <a:buFont typeface="Arial" panose="020B0604020202020204" pitchFamily="34" charset="0"/>
              <a:buChar char="•"/>
            </a:pPr>
            <a:r>
              <a:rPr lang="fr-FR" dirty="0"/>
              <a:t>User </a:t>
            </a:r>
            <a:r>
              <a:rPr lang="fr-FR" dirty="0" err="1"/>
              <a:t>authentication</a:t>
            </a:r>
            <a:endParaRPr lang="fr-FR" dirty="0"/>
          </a:p>
          <a:p>
            <a:pPr marL="342900" indent="-342900">
              <a:buFont typeface="Arial" panose="020B0604020202020204" pitchFamily="34" charset="0"/>
              <a:buChar char="•"/>
            </a:pPr>
            <a:r>
              <a:rPr lang="fr-FR" dirty="0" err="1"/>
              <a:t>Database</a:t>
            </a:r>
            <a:r>
              <a:rPr lang="fr-FR" dirty="0"/>
              <a:t> </a:t>
            </a:r>
            <a:r>
              <a:rPr lang="fr-FR" dirty="0" err="1"/>
              <a:t>connection</a:t>
            </a:r>
            <a:endParaRPr lang="fr-FR" dirty="0"/>
          </a:p>
          <a:p>
            <a:pPr marL="342900" indent="-342900">
              <a:buFont typeface="Arial" panose="020B0604020202020204" pitchFamily="34" charset="0"/>
              <a:buChar char="•"/>
            </a:pPr>
            <a:r>
              <a:rPr lang="fr-FR" dirty="0" err="1"/>
              <a:t>Enrollment</a:t>
            </a:r>
            <a:r>
              <a:rPr lang="fr-FR" dirty="0"/>
              <a:t> validation</a:t>
            </a:r>
          </a:p>
          <a:p>
            <a:pPr marL="342900" indent="-342900">
              <a:buFont typeface="Arial" panose="020B0604020202020204" pitchFamily="34" charset="0"/>
              <a:buChar char="•"/>
            </a:pPr>
            <a:r>
              <a:rPr lang="fr-FR" dirty="0"/>
              <a:t>Session management</a:t>
            </a:r>
            <a:endParaRPr lang="en-US" dirty="0"/>
          </a:p>
        </p:txBody>
      </p:sp>
    </p:spTree>
    <p:extLst>
      <p:ext uri="{BB962C8B-B14F-4D97-AF65-F5344CB8AC3E}">
        <p14:creationId xmlns:p14="http://schemas.microsoft.com/office/powerpoint/2010/main" val="3312127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0786E-306F-FA21-4F87-81A032C68696}"/>
              </a:ext>
            </a:extLst>
          </p:cNvPr>
          <p:cNvSpPr>
            <a:spLocks noGrp="1"/>
          </p:cNvSpPr>
          <p:nvPr>
            <p:ph type="title"/>
          </p:nvPr>
        </p:nvSpPr>
        <p:spPr>
          <a:xfrm>
            <a:off x="1167493" y="136526"/>
            <a:ext cx="9779183" cy="1570038"/>
          </a:xfrm>
        </p:spPr>
        <p:txBody>
          <a:bodyPr/>
          <a:lstStyle/>
          <a:p>
            <a:r>
              <a:rPr lang="en-US" dirty="0"/>
              <a:t>Conclusion</a:t>
            </a:r>
          </a:p>
        </p:txBody>
      </p:sp>
      <p:sp>
        <p:nvSpPr>
          <p:cNvPr id="5" name="Content Placeholder 4">
            <a:extLst>
              <a:ext uri="{FF2B5EF4-FFF2-40B4-BE49-F238E27FC236}">
                <a16:creationId xmlns:a16="http://schemas.microsoft.com/office/drawing/2014/main" id="{71916AF6-8C6A-CE11-CD64-3A1BFA777CD5}"/>
              </a:ext>
            </a:extLst>
          </p:cNvPr>
          <p:cNvSpPr>
            <a:spLocks noGrp="1"/>
          </p:cNvSpPr>
          <p:nvPr>
            <p:ph idx="1"/>
          </p:nvPr>
        </p:nvSpPr>
        <p:spPr/>
        <p:txBody>
          <a:bodyPr/>
          <a:lstStyle/>
          <a:p>
            <a:pPr marL="457200" indent="-457200">
              <a:buFont typeface="Arial" panose="020B0604020202020204" pitchFamily="34" charset="0"/>
              <a:buChar char="•"/>
            </a:pPr>
            <a:r>
              <a:rPr lang="en-US" dirty="0"/>
              <a:t>Full SDLC implemented</a:t>
            </a:r>
          </a:p>
          <a:p>
            <a:pPr marL="457200" indent="-457200">
              <a:buFont typeface="Arial" panose="020B0604020202020204" pitchFamily="34" charset="0"/>
              <a:buChar char="•"/>
            </a:pPr>
            <a:r>
              <a:rPr lang="en-US" dirty="0"/>
              <a:t>Functional web application created</a:t>
            </a:r>
          </a:p>
          <a:p>
            <a:pPr marL="457200" indent="-457200">
              <a:buFont typeface="Arial" panose="020B0604020202020204" pitchFamily="34" charset="0"/>
              <a:buChar char="•"/>
            </a:pPr>
            <a:r>
              <a:rPr lang="en-US" dirty="0"/>
              <a:t>Integrated frontend, backend, and database</a:t>
            </a:r>
          </a:p>
          <a:p>
            <a:pPr marL="457200" indent="-457200">
              <a:buFont typeface="Arial" panose="020B0604020202020204" pitchFamily="34" charset="0"/>
              <a:buChar char="•"/>
            </a:pPr>
            <a:r>
              <a:rPr lang="en-US" dirty="0"/>
              <a:t>Demonstrates real-world system development</a:t>
            </a:r>
          </a:p>
        </p:txBody>
      </p:sp>
    </p:spTree>
    <p:extLst>
      <p:ext uri="{BB962C8B-B14F-4D97-AF65-F5344CB8AC3E}">
        <p14:creationId xmlns:p14="http://schemas.microsoft.com/office/powerpoint/2010/main" val="1678163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65A8-566C-C44C-54B0-1F404D699E0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9E3E5B0E-C982-2456-DBF8-F8FBA4C9DC6C}"/>
              </a:ext>
            </a:extLst>
          </p:cNvPr>
          <p:cNvSpPr>
            <a:spLocks noGrp="1"/>
          </p:cNvSpPr>
          <p:nvPr>
            <p:ph idx="1"/>
          </p:nvPr>
        </p:nvSpPr>
        <p:spPr/>
        <p:txBody>
          <a:bodyPr/>
          <a:lstStyle/>
          <a:p>
            <a:r>
              <a:rPr lang="en-US" sz="1800" dirty="0" err="1"/>
              <a:t>Bomström</a:t>
            </a:r>
            <a:r>
              <a:rPr lang="en-US" sz="1800" dirty="0"/>
              <a:t>, H., et al. (2023, October). </a:t>
            </a:r>
            <a:r>
              <a:rPr lang="en-US" sz="1800" i="1" dirty="0"/>
              <a:t>Information needs and presentation in agile software development</a:t>
            </a:r>
            <a:r>
              <a:rPr lang="en-US" sz="1800" dirty="0"/>
              <a:t>. ScienceDirect. </a:t>
            </a:r>
            <a:r>
              <a:rPr lang="en-US" sz="1800" dirty="0">
                <a:hlinkClick r:id="rId2" tooltip="Persistent link using digital object identifier"/>
              </a:rPr>
              <a:t>https://doi.org/10.1016/j.infsof.2023.107265</a:t>
            </a:r>
            <a:endParaRPr lang="en-US" sz="1800" dirty="0"/>
          </a:p>
          <a:p>
            <a:r>
              <a:rPr lang="en-US" sz="1800" dirty="0"/>
              <a:t>Tsui, F., Karam, O., &amp; Bernal, B. (2018). </a:t>
            </a:r>
            <a:r>
              <a:rPr lang="en-US" sz="1800" i="1" u="sng" dirty="0">
                <a:hlinkClick r:id="rId3"/>
              </a:rPr>
              <a:t>Essentials of software engineering</a:t>
            </a:r>
            <a:r>
              <a:rPr lang="en-US" sz="1800" dirty="0"/>
              <a:t> (4th ed.). Jones &amp; Bartlett Learning.</a:t>
            </a:r>
          </a:p>
        </p:txBody>
      </p:sp>
    </p:spTree>
    <p:extLst>
      <p:ext uri="{BB962C8B-B14F-4D97-AF65-F5344CB8AC3E}">
        <p14:creationId xmlns:p14="http://schemas.microsoft.com/office/powerpoint/2010/main" val="2617229942"/>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1272</TotalTime>
  <Words>755</Words>
  <Application>Microsoft Office PowerPoint</Application>
  <PresentationFormat>Widescreen</PresentationFormat>
  <Paragraphs>94</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Tenorite</vt:lpstr>
      <vt:lpstr>Custom</vt:lpstr>
      <vt:lpstr>College E-rollment System</vt:lpstr>
      <vt:lpstr>Project Overview</vt:lpstr>
      <vt:lpstr>SRS Overview</vt:lpstr>
      <vt:lpstr>Key SRS Features</vt:lpstr>
      <vt:lpstr>UML Design Overview</vt:lpstr>
      <vt:lpstr>UML Highlights</vt:lpstr>
      <vt:lpstr>Frontend Design</vt:lpstr>
      <vt:lpstr>Enrollment Pages</vt:lpstr>
      <vt:lpstr>MySQL Database Design</vt:lpstr>
      <vt:lpstr>Database Functionality</vt:lpstr>
      <vt:lpstr>PHP Code Implementation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Wong</dc:creator>
  <cp:lastModifiedBy>Michael Wong</cp:lastModifiedBy>
  <cp:revision>5</cp:revision>
  <dcterms:created xsi:type="dcterms:W3CDTF">2026-04-08T03:35:52Z</dcterms:created>
  <dcterms:modified xsi:type="dcterms:W3CDTF">2026-04-09T00:48:13Z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